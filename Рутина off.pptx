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E3F2"/>
    <a:srgbClr val="9EDF91"/>
    <a:srgbClr val="84ECB6"/>
    <a:srgbClr val="7D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61" d="100"/>
          <a:sy n="161" d="100"/>
        </p:scale>
        <p:origin x="255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33746-01B4-4240-A493-2BD095A8F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B6265D-5E5A-43CF-AE1C-2D8244D21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8C659A-E087-468C-85FE-101337AA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82E969-8DA9-4322-9EE8-CEBFF68E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1DEC-9C91-44CE-9A1F-64F9E785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52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169D4-194D-4D30-B4D2-82835FFE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02F5F-DEAD-4FF6-A1FC-971ECC0E3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7D688-CBE6-4155-9B5E-0C3D6B51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B79FA1-E99D-4974-9EBC-6EBAD331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C64113-9C4E-4A62-8076-CED1084F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3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91108-96CA-4D50-98A7-EA536DD7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B0D929-6097-4530-B649-A8E6B0593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804F10-3B51-420E-926F-8D64D454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5E9D6D-BD91-480D-ACD4-89282951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BB9C17-26A6-4CDB-9102-3BC7741F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392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EDAAE-8B79-4927-9EAD-99AD20F7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EB274C-E6E2-4B72-AEDB-B9FE43EEA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5BEB4D-DDE0-400A-8C8E-F707446E8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396B4C-D78E-4489-8DF7-0E9D083C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AD31C0-4FDA-4608-8502-C755707B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14F074-81B6-4BEA-AC1F-FD4362E9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9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F4BE2-52CA-491E-8D4A-378B0809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C15465-15BF-4B6D-948E-12BE3154B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F71C29-4005-4EB9-9860-020AD2930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A1B820-9E18-425E-B3AD-02B27F265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0CAB9F-8BE4-402B-8716-EF18C8806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BA0A8B-7766-4485-9E44-2701A5FB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1BC198-8E86-455C-8B47-F625E7E8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5B1894-EDB0-4004-972D-CC911C92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40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79896-8D1A-42AA-8C73-1AEEDB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545FF4-1AB6-4BFC-B0D8-7A370258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274C40-79EF-448F-BECD-EC34DF98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563179-C3BB-42F8-9602-72D071E1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1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4A152D-F922-4A47-92F8-76561D6D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9B131E-0F44-4B6A-9969-907766D2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B507CB-AF0F-4B9C-BB75-0924E87A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70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D7CCF-4C1C-4E20-A84C-EBF67C2C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4C537-7DDC-449D-95CA-EDE6423C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07334E-126F-4498-B6FE-1EECD013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EF9173-5CE0-4467-9FBF-A288785D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295484-90DF-4A2E-9C2E-9643C130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BBEA53-DC05-4705-9834-AF9BE538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0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EB727-E621-4F33-A454-0FD18005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5E0A0D-A9BB-4D98-A5A2-F996579A8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131124-8589-4CB3-9DD5-3D555938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8A170D-E1DF-46CB-B93F-D46E958D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0D37EF-2773-4345-AEA5-8E70616D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81CA7-51B1-4B6F-AC19-907CFE7E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02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97026-FD4C-435B-8DBD-94CB22C5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36FB7E-F18F-4794-8976-7A1080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0C91F-4833-454A-B509-A2DEAF0F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ABD72-9B27-490F-9EF6-6BAEDC09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71AF95-24F6-46AE-9677-D04479AF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87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DA288E-0DC6-4112-81C6-94EF9B295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B931A4-0745-43B7-886A-EEFB57D12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64609-52FE-406C-85F8-D37D0C77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C54395-8831-4367-A8A7-92B07FFF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3BD1A2-2AAA-4EC3-B363-0179FE09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47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48BB5-477D-4AF3-9AA6-A4999219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A64E05-A0FE-41B1-85C7-1A48E6C9B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2EAF9A-866B-41E2-A31E-C89B58342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89512-7DA3-4589-929C-A7D4ADF513EB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5DCA4-FCA2-459A-98BA-F3160EBB4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05E27-9370-4B43-BDB7-B6CF81CB9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3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othost.ru/pricing.ph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1A28D812-C1CB-4E65-8300-726F8DDDD670}"/>
              </a:ext>
            </a:extLst>
          </p:cNvPr>
          <p:cNvSpPr/>
          <p:nvPr/>
        </p:nvSpPr>
        <p:spPr>
          <a:xfrm>
            <a:off x="-1920834" y="-1920834"/>
            <a:ext cx="3841668" cy="3841668"/>
          </a:xfrm>
          <a:prstGeom prst="ellipse">
            <a:avLst/>
          </a:prstGeom>
          <a:solidFill>
            <a:srgbClr val="8AE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901D57F-641D-467D-BDC4-F53D43DF670A}"/>
              </a:ext>
            </a:extLst>
          </p:cNvPr>
          <p:cNvSpPr/>
          <p:nvPr/>
        </p:nvSpPr>
        <p:spPr>
          <a:xfrm>
            <a:off x="10271166" y="4937166"/>
            <a:ext cx="3841668" cy="3841668"/>
          </a:xfrm>
          <a:prstGeom prst="ellipse">
            <a:avLst/>
          </a:prstGeom>
          <a:solidFill>
            <a:srgbClr val="8AE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50F7816-8935-41F4-B290-2E52ACE431A2}"/>
              </a:ext>
            </a:extLst>
          </p:cNvPr>
          <p:cNvSpPr/>
          <p:nvPr/>
        </p:nvSpPr>
        <p:spPr>
          <a:xfrm>
            <a:off x="4035631" y="1849582"/>
            <a:ext cx="4120737" cy="1579418"/>
          </a:xfrm>
          <a:prstGeom prst="roundRect">
            <a:avLst/>
          </a:prstGeom>
          <a:solidFill>
            <a:srgbClr val="9EDF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i="0" dirty="0">
                <a:solidFill>
                  <a:srgbClr val="0F1115"/>
                </a:solidFill>
                <a:effectLst/>
                <a:latin typeface="Arial Black" panose="020B0A04020102020204" pitchFamily="34" charset="0"/>
              </a:rPr>
              <a:t>Рутина О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Arial Black" panose="020B0A04020102020204" pitchFamily="34" charset="0"/>
              </a:rPr>
              <a:t>ff</a:t>
            </a:r>
            <a:endParaRPr lang="en-US" sz="4000" b="0" i="0" dirty="0">
              <a:solidFill>
                <a:srgbClr val="0F1115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1C28F-7E0E-47AB-89BB-A02662342D63}"/>
              </a:ext>
            </a:extLst>
          </p:cNvPr>
          <p:cNvSpPr txBox="1"/>
          <p:nvPr/>
        </p:nvSpPr>
        <p:spPr>
          <a:xfrm>
            <a:off x="279069" y="5183579"/>
            <a:ext cx="3815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Работу выполнил:</a:t>
            </a:r>
            <a:br>
              <a:rPr lang="ru-RU" sz="2000" dirty="0"/>
            </a:br>
            <a:r>
              <a:rPr lang="ru-RU" sz="2000" dirty="0"/>
              <a:t>Герасименко Дмитрий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121008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272BB-0E09-4A36-8176-9785FC750BE5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7BE6A-D792-49EC-8A85-17BF76774A4F}"/>
              </a:ext>
            </a:extLst>
          </p:cNvPr>
          <p:cNvSpPr txBox="1"/>
          <p:nvPr/>
        </p:nvSpPr>
        <p:spPr>
          <a:xfrm>
            <a:off x="314695" y="838515"/>
            <a:ext cx="2562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Анализ проблемы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91BC611-5654-484E-A132-2792088C032A}"/>
              </a:ext>
            </a:extLst>
          </p:cNvPr>
          <p:cNvSpPr/>
          <p:nvPr/>
        </p:nvSpPr>
        <p:spPr>
          <a:xfrm>
            <a:off x="510639" y="1668483"/>
            <a:ext cx="3443844" cy="4922322"/>
          </a:xfrm>
          <a:prstGeom prst="roundRect">
            <a:avLst/>
          </a:prstGeom>
          <a:noFill/>
          <a:ln w="38100">
            <a:solidFill>
              <a:srgbClr val="9EDF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b="1">
              <a:solidFill>
                <a:srgbClr val="0F1115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158BDA-C80B-4940-A095-1625A684A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431" y="2005445"/>
            <a:ext cx="1349179" cy="13491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9BD368-8F08-4783-9FC0-C67BEAD79A90}"/>
              </a:ext>
            </a:extLst>
          </p:cNvPr>
          <p:cNvSpPr txBox="1"/>
          <p:nvPr/>
        </p:nvSpPr>
        <p:spPr>
          <a:xfrm>
            <a:off x="617339" y="3467924"/>
            <a:ext cx="33371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Иногда работа с бумагами в офисе может занимать по 5 – 9 часов в день. Отдых сотрудников чтобы меньше ошибаться увеличивает количество часов работы.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F4CC580-B154-46CE-9EFA-4A2223728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748" y="2005445"/>
            <a:ext cx="1297380" cy="12973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84A38F-430A-4A4A-A99E-CA35F6C5B11F}"/>
              </a:ext>
            </a:extLst>
          </p:cNvPr>
          <p:cNvSpPr txBox="1"/>
          <p:nvPr/>
        </p:nvSpPr>
        <p:spPr>
          <a:xfrm>
            <a:off x="5260770" y="3429000"/>
            <a:ext cx="35032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Офисные сотрудники могут ошибаться в расчетах при бумажной работе. На это способствуют несколько факторов: усталость, информационная перегрузка и т.д. 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F0E368D-B75B-42CC-A037-5991D3F43F32}"/>
              </a:ext>
            </a:extLst>
          </p:cNvPr>
          <p:cNvSpPr/>
          <p:nvPr/>
        </p:nvSpPr>
        <p:spPr>
          <a:xfrm>
            <a:off x="5134099" y="1668483"/>
            <a:ext cx="3443844" cy="4922322"/>
          </a:xfrm>
          <a:prstGeom prst="roundRect">
            <a:avLst/>
          </a:prstGeom>
          <a:noFill/>
          <a:ln w="38100">
            <a:solidFill>
              <a:srgbClr val="9EDF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b="1">
              <a:solidFill>
                <a:srgbClr val="0F1115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3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510C46-E386-4249-B312-CBF571282BE5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BCC17-9A61-47C7-AAF3-395DFD145853}"/>
              </a:ext>
            </a:extLst>
          </p:cNvPr>
          <p:cNvSpPr txBox="1"/>
          <p:nvPr/>
        </p:nvSpPr>
        <p:spPr>
          <a:xfrm>
            <a:off x="314695" y="838515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Мой проект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7F3D4-933C-478E-B301-36C88F69B3A6}"/>
              </a:ext>
            </a:extLst>
          </p:cNvPr>
          <p:cNvSpPr txBox="1"/>
          <p:nvPr/>
        </p:nvSpPr>
        <p:spPr>
          <a:xfrm>
            <a:off x="314695" y="1413164"/>
            <a:ext cx="1189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Задачи: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CDF29F-9C8D-4D0A-97B2-3727D2C1B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4" y="2008066"/>
            <a:ext cx="945419" cy="9454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E86058-85F8-4766-8649-8CC37D83F554}"/>
              </a:ext>
            </a:extLst>
          </p:cNvPr>
          <p:cNvSpPr txBox="1"/>
          <p:nvPr/>
        </p:nvSpPr>
        <p:spPr>
          <a:xfrm>
            <a:off x="1353786" y="2069354"/>
            <a:ext cx="2974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Получение </a:t>
            </a:r>
            <a:r>
              <a:rPr lang="en-US" sz="2400" dirty="0"/>
              <a:t>Excel </a:t>
            </a:r>
            <a:r>
              <a:rPr lang="ru-RU" sz="2400" dirty="0"/>
              <a:t>таблицы </a:t>
            </a:r>
            <a:r>
              <a:rPr lang="en-US" sz="2400" dirty="0"/>
              <a:t>c </a:t>
            </a:r>
            <a:r>
              <a:rPr lang="ru-RU" sz="2400" dirty="0"/>
              <a:t>затратами.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9E87CD8-DF89-4A45-9C11-798511A65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4" y="3179452"/>
            <a:ext cx="945419" cy="9454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5F3ADF-43B1-407E-968D-7E87BB460E05}"/>
              </a:ext>
            </a:extLst>
          </p:cNvPr>
          <p:cNvSpPr txBox="1"/>
          <p:nvPr/>
        </p:nvSpPr>
        <p:spPr>
          <a:xfrm>
            <a:off x="1358348" y="3230279"/>
            <a:ext cx="3106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Получение </a:t>
            </a:r>
            <a:r>
              <a:rPr lang="en-US" sz="2400" dirty="0"/>
              <a:t>Excel </a:t>
            </a:r>
            <a:r>
              <a:rPr lang="ru-RU" sz="2400" dirty="0"/>
              <a:t>таблицы с доходами.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7B6037-A5D1-474C-8F61-248375940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2" y="4355299"/>
            <a:ext cx="945421" cy="9454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FE1100-4D13-4BAF-9AD7-D21DE6B48D33}"/>
              </a:ext>
            </a:extLst>
          </p:cNvPr>
          <p:cNvSpPr txBox="1"/>
          <p:nvPr/>
        </p:nvSpPr>
        <p:spPr>
          <a:xfrm>
            <a:off x="1353786" y="4412510"/>
            <a:ext cx="4001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Подсчет полученных данных из </a:t>
            </a:r>
            <a:r>
              <a:rPr lang="en-US" sz="2400" dirty="0"/>
              <a:t>Excel </a:t>
            </a:r>
            <a:r>
              <a:rPr lang="ru-RU" sz="2400" dirty="0"/>
              <a:t>таблицы и вывод.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3F34F-40CD-449C-BB5F-882F8D968019}"/>
              </a:ext>
            </a:extLst>
          </p:cNvPr>
          <p:cNvSpPr txBox="1"/>
          <p:nvPr/>
        </p:nvSpPr>
        <p:spPr>
          <a:xfrm>
            <a:off x="6339443" y="1413163"/>
            <a:ext cx="2046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Возможности: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D9CFCC5-844C-4A30-9E78-6232360BE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833" y="2008066"/>
            <a:ext cx="945419" cy="9454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120752-23DC-4DB3-AF60-182F88BC5E1E}"/>
              </a:ext>
            </a:extLst>
          </p:cNvPr>
          <p:cNvSpPr txBox="1"/>
          <p:nvPr/>
        </p:nvSpPr>
        <p:spPr>
          <a:xfrm>
            <a:off x="7362479" y="2111639"/>
            <a:ext cx="4595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Получение данных как от ручного ввода так и в таблице </a:t>
            </a:r>
            <a:r>
              <a:rPr lang="en-US" sz="2400" dirty="0"/>
              <a:t>Excel</a:t>
            </a:r>
            <a:r>
              <a:rPr lang="ru-RU" sz="2400" dirty="0"/>
              <a:t>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858AD4E-66F9-420B-AAE8-EF2A98D3C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442" y="3179452"/>
            <a:ext cx="945419" cy="9454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9B3E013-E661-422F-8A3E-7160FBABD692}"/>
              </a:ext>
            </a:extLst>
          </p:cNvPr>
          <p:cNvSpPr txBox="1"/>
          <p:nvPr/>
        </p:nvSpPr>
        <p:spPr>
          <a:xfrm>
            <a:off x="7362478" y="3179450"/>
            <a:ext cx="4595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Создание графиков для удобного просмотра.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286D1B4-0219-420F-AB5D-928ACE3DB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831" y="4355299"/>
            <a:ext cx="945421" cy="9454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3701A0-AD1E-48B6-A319-823664674405}"/>
              </a:ext>
            </a:extLst>
          </p:cNvPr>
          <p:cNvSpPr txBox="1"/>
          <p:nvPr/>
        </p:nvSpPr>
        <p:spPr>
          <a:xfrm>
            <a:off x="7279252" y="4355299"/>
            <a:ext cx="4595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Категоризация доходов и расходов.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FC5468-4CD7-44C8-AFE2-9C67A853D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2" y="5531432"/>
            <a:ext cx="945421" cy="9454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01EC00-6712-4F9E-9ABA-7E5AF5522DAF}"/>
              </a:ext>
            </a:extLst>
          </p:cNvPr>
          <p:cNvSpPr txBox="1"/>
          <p:nvPr/>
        </p:nvSpPr>
        <p:spPr>
          <a:xfrm>
            <a:off x="1353786" y="5531148"/>
            <a:ext cx="4001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Сравнение затрат и доходов с планом.</a:t>
            </a:r>
          </a:p>
        </p:txBody>
      </p:sp>
    </p:spTree>
    <p:extLst>
      <p:ext uri="{BB962C8B-B14F-4D97-AF65-F5344CB8AC3E}">
        <p14:creationId xmlns:p14="http://schemas.microsoft.com/office/powerpoint/2010/main" val="57136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CB5F28-DB52-4C87-BAF7-64E309712990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B3B07-0838-4CB3-8AE0-A47B7A3D8E1C}"/>
              </a:ext>
            </a:extLst>
          </p:cNvPr>
          <p:cNvSpPr txBox="1"/>
          <p:nvPr/>
        </p:nvSpPr>
        <p:spPr>
          <a:xfrm>
            <a:off x="314695" y="838515"/>
            <a:ext cx="3283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Сравнение с аналогами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055C93F7-1B71-4284-8FFA-71BA48378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250732"/>
              </p:ext>
            </p:extLst>
          </p:nvPr>
        </p:nvGraphicFramePr>
        <p:xfrm>
          <a:off x="0" y="1332411"/>
          <a:ext cx="12191999" cy="5394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03813">
                  <a:extLst>
                    <a:ext uri="{9D8B030D-6E8A-4147-A177-3AD203B41FA5}">
                      <a16:colId xmlns:a16="http://schemas.microsoft.com/office/drawing/2014/main" val="4206505965"/>
                    </a:ext>
                  </a:extLst>
                </a:gridCol>
                <a:gridCol w="2262249">
                  <a:extLst>
                    <a:ext uri="{9D8B030D-6E8A-4147-A177-3AD203B41FA5}">
                      <a16:colId xmlns:a16="http://schemas.microsoft.com/office/drawing/2014/main" val="2122763683"/>
                    </a:ext>
                  </a:extLst>
                </a:gridCol>
                <a:gridCol w="2196935">
                  <a:extLst>
                    <a:ext uri="{9D8B030D-6E8A-4147-A177-3AD203B41FA5}">
                      <a16:colId xmlns:a16="http://schemas.microsoft.com/office/drawing/2014/main" val="1712936307"/>
                    </a:ext>
                  </a:extLst>
                </a:gridCol>
                <a:gridCol w="2404754">
                  <a:extLst>
                    <a:ext uri="{9D8B030D-6E8A-4147-A177-3AD203B41FA5}">
                      <a16:colId xmlns:a16="http://schemas.microsoft.com/office/drawing/2014/main" val="1215283638"/>
                    </a:ext>
                  </a:extLst>
                </a:gridCol>
                <a:gridCol w="3024248">
                  <a:extLst>
                    <a:ext uri="{9D8B030D-6E8A-4147-A177-3AD203B41FA5}">
                      <a16:colId xmlns:a16="http://schemas.microsoft.com/office/drawing/2014/main" val="2346523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Финолог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ПланФакт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Adesk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Рутина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56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Цена/месяц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 3990руб/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2050руб/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1990руб/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 400руб/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9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Платформы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Веб-платформа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Веб, приложение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Веб, приложение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Встроенное приложение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55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Формировка графика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692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Формировка годовых отчетов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46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Учет доходов и расходов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94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Интеграция с банками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6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02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3C9C6-9365-4296-A2D6-518227C4545B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AC28C-6E54-4690-AAD6-1C23B206101A}"/>
              </a:ext>
            </a:extLst>
          </p:cNvPr>
          <p:cNvSpPr txBox="1"/>
          <p:nvPr/>
        </p:nvSpPr>
        <p:spPr>
          <a:xfrm>
            <a:off x="314695" y="838515"/>
            <a:ext cx="1640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Экономика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C3F682-E43F-4ED1-95A8-B177FB4CC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5" y="1454728"/>
            <a:ext cx="1200737" cy="1200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D17408-D7CC-4C3E-BBA2-A932EBAF3269}"/>
              </a:ext>
            </a:extLst>
          </p:cNvPr>
          <p:cNvSpPr txBox="1"/>
          <p:nvPr/>
        </p:nvSpPr>
        <p:spPr>
          <a:xfrm>
            <a:off x="1515432" y="1824263"/>
            <a:ext cx="1269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Хостинг: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344B0-5A76-4DA1-BC80-3C9B8EA268DA}"/>
              </a:ext>
            </a:extLst>
          </p:cNvPr>
          <p:cNvSpPr txBox="1"/>
          <p:nvPr/>
        </p:nvSpPr>
        <p:spPr>
          <a:xfrm>
            <a:off x="214379" y="2723819"/>
            <a:ext cx="30812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Аренда сервера будет производится на сайте </a:t>
            </a:r>
            <a:r>
              <a:rPr lang="en-US" sz="2400" dirty="0">
                <a:hlinkClick r:id="rId3"/>
              </a:rPr>
              <a:t>Bothost</a:t>
            </a:r>
            <a:r>
              <a:rPr lang="ru-RU" sz="2400" dirty="0"/>
              <a:t>.</a:t>
            </a:r>
          </a:p>
          <a:p>
            <a:r>
              <a:rPr lang="ru-RU" sz="2400" dirty="0"/>
              <a:t>Тариф </a:t>
            </a:r>
            <a:r>
              <a:rPr lang="en-US" sz="2400" dirty="0"/>
              <a:t>Pro </a:t>
            </a:r>
            <a:r>
              <a:rPr lang="ru-RU" sz="2400" dirty="0"/>
              <a:t>(250руб/</a:t>
            </a:r>
            <a:r>
              <a:rPr lang="ru-RU" sz="2400" dirty="0" err="1"/>
              <a:t>мес</a:t>
            </a:r>
            <a:r>
              <a:rPr lang="ru-RU" sz="2400" dirty="0"/>
              <a:t>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CCA15EE-AA6D-406A-989C-548A512CE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03" y="1454818"/>
            <a:ext cx="1269001" cy="1269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759A97-F2C8-4C8E-9F96-CDC1ED85318B}"/>
              </a:ext>
            </a:extLst>
          </p:cNvPr>
          <p:cNvSpPr txBox="1"/>
          <p:nvPr/>
        </p:nvSpPr>
        <p:spPr>
          <a:xfrm>
            <a:off x="5309414" y="1858485"/>
            <a:ext cx="1548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Подписки: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78E8D-AE6F-45B8-A061-FFE11E23D567}"/>
              </a:ext>
            </a:extLst>
          </p:cNvPr>
          <p:cNvSpPr txBox="1"/>
          <p:nvPr/>
        </p:nvSpPr>
        <p:spPr>
          <a:xfrm>
            <a:off x="4055103" y="2998519"/>
            <a:ext cx="44179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боте будут присутствовать 2 подписки:</a:t>
            </a:r>
          </a:p>
          <a:p>
            <a:r>
              <a:rPr lang="ru-RU" sz="2400" dirty="0"/>
              <a:t>Одиночная – 400руб/</a:t>
            </a:r>
            <a:r>
              <a:rPr lang="ru-RU" sz="2400" dirty="0" err="1"/>
              <a:t>мес</a:t>
            </a:r>
            <a:endParaRPr lang="ru-RU" sz="2400" dirty="0"/>
          </a:p>
          <a:p>
            <a:r>
              <a:rPr lang="ru-RU" sz="2400" dirty="0"/>
              <a:t>Подписка действует только на одного человека и позволяет выполнять все функции</a:t>
            </a:r>
          </a:p>
          <a:p>
            <a:r>
              <a:rPr lang="ru-RU" sz="2400" dirty="0"/>
              <a:t>Групповая – 800руб/</a:t>
            </a:r>
            <a:r>
              <a:rPr lang="ru-RU" sz="2400" dirty="0" err="1"/>
              <a:t>мес</a:t>
            </a:r>
            <a:endParaRPr lang="ru-RU" sz="2400" dirty="0"/>
          </a:p>
          <a:p>
            <a:r>
              <a:rPr lang="ru-RU" sz="2400" dirty="0"/>
              <a:t>Подписка действует на несколько людей (до 8 человек)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F88FC31-F902-4493-964F-E8340DAA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45" y="1386464"/>
            <a:ext cx="1269001" cy="1269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E6953B-55BC-4FB6-9658-AD16E543A238}"/>
              </a:ext>
            </a:extLst>
          </p:cNvPr>
          <p:cNvSpPr txBox="1"/>
          <p:nvPr/>
        </p:nvSpPr>
        <p:spPr>
          <a:xfrm>
            <a:off x="9902446" y="1858485"/>
            <a:ext cx="98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Касса: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3F0B1-8ED2-4F89-9B88-8FAA936D4F71}"/>
              </a:ext>
            </a:extLst>
          </p:cNvPr>
          <p:cNvSpPr txBox="1"/>
          <p:nvPr/>
        </p:nvSpPr>
        <p:spPr>
          <a:xfrm>
            <a:off x="8628545" y="3057896"/>
            <a:ext cx="3490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возможности оплаты счета к боту будет привязана </a:t>
            </a:r>
            <a:r>
              <a:rPr lang="en-US" sz="2400" dirty="0" err="1"/>
              <a:t>YooKassa</a:t>
            </a:r>
            <a:r>
              <a:rPr lang="ru-RU" sz="2400" dirty="0"/>
              <a:t>. Комиссия при транзакции составляет 3.5%.</a:t>
            </a:r>
          </a:p>
        </p:txBody>
      </p:sp>
    </p:spTree>
    <p:extLst>
      <p:ext uri="{BB962C8B-B14F-4D97-AF65-F5344CB8AC3E}">
        <p14:creationId xmlns:p14="http://schemas.microsoft.com/office/powerpoint/2010/main" val="101280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620F96-2891-410D-9EC3-D8C0025F4369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09CA7-5BBD-48D3-A72F-174CAA0B20EB}"/>
              </a:ext>
            </a:extLst>
          </p:cNvPr>
          <p:cNvSpPr txBox="1"/>
          <p:nvPr/>
        </p:nvSpPr>
        <p:spPr>
          <a:xfrm>
            <a:off x="314695" y="838515"/>
            <a:ext cx="2617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Схема реализации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C46BC58-3EC1-4548-AF40-8D3F73184F03}"/>
              </a:ext>
            </a:extLst>
          </p:cNvPr>
          <p:cNvSpPr/>
          <p:nvPr/>
        </p:nvSpPr>
        <p:spPr>
          <a:xfrm>
            <a:off x="300841" y="1591293"/>
            <a:ext cx="3800104" cy="1591293"/>
          </a:xfrm>
          <a:prstGeom prst="roundRect">
            <a:avLst/>
          </a:prstGeom>
          <a:noFill/>
          <a:ln w="38100">
            <a:solidFill>
              <a:srgbClr val="9EDF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A7D3B-C4E4-46ED-850B-7AB02C59C6ED}"/>
              </a:ext>
            </a:extLst>
          </p:cNvPr>
          <p:cNvSpPr txBox="1"/>
          <p:nvPr/>
        </p:nvSpPr>
        <p:spPr>
          <a:xfrm>
            <a:off x="300841" y="1591293"/>
            <a:ext cx="380010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Подготовка окружения и базовая архитектура: Создать скелет проекта, реализовать команду /</a:t>
            </a:r>
            <a:r>
              <a:rPr lang="en-US" sz="2400" dirty="0"/>
              <a:t>start</a:t>
            </a:r>
            <a:r>
              <a:rPr lang="ru-RU" sz="2400" dirty="0"/>
              <a:t> </a:t>
            </a:r>
          </a:p>
          <a:p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8908C84-2512-489D-BE70-423E12597DA2}"/>
              </a:ext>
            </a:extLst>
          </p:cNvPr>
          <p:cNvSpPr/>
          <p:nvPr/>
        </p:nvSpPr>
        <p:spPr>
          <a:xfrm>
            <a:off x="300841" y="3675415"/>
            <a:ext cx="3800104" cy="1591293"/>
          </a:xfrm>
          <a:prstGeom prst="roundRect">
            <a:avLst/>
          </a:prstGeom>
          <a:noFill/>
          <a:ln w="38100">
            <a:solidFill>
              <a:srgbClr val="8AE3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399CCE-8222-4D3C-B949-13105E99082D}"/>
              </a:ext>
            </a:extLst>
          </p:cNvPr>
          <p:cNvSpPr txBox="1"/>
          <p:nvPr/>
        </p:nvSpPr>
        <p:spPr>
          <a:xfrm>
            <a:off x="339257" y="3675415"/>
            <a:ext cx="37616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</a:t>
            </a:r>
            <a:r>
              <a:rPr lang="en-US" sz="2400" dirty="0"/>
              <a:t>.</a:t>
            </a:r>
            <a:r>
              <a:rPr lang="ru-RU" sz="2400" dirty="0"/>
              <a:t> Обработка файлов Excel: Научить бота принимать файлы, проверять их и извлекать данные</a:t>
            </a:r>
          </a:p>
          <a:p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C0E1AE5-D7BD-48FC-85C6-5F93F9E88AD9}"/>
              </a:ext>
            </a:extLst>
          </p:cNvPr>
          <p:cNvSpPr/>
          <p:nvPr/>
        </p:nvSpPr>
        <p:spPr>
          <a:xfrm>
            <a:off x="7984988" y="855022"/>
            <a:ext cx="3800104" cy="2327564"/>
          </a:xfrm>
          <a:prstGeom prst="roundRect">
            <a:avLst/>
          </a:prstGeom>
          <a:noFill/>
          <a:ln w="38100">
            <a:solidFill>
              <a:srgbClr val="9EDF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91A93-F7FD-4D6A-909A-65829D26629E}"/>
              </a:ext>
            </a:extLst>
          </p:cNvPr>
          <p:cNvSpPr txBox="1"/>
          <p:nvPr/>
        </p:nvSpPr>
        <p:spPr>
          <a:xfrm>
            <a:off x="8173013" y="855022"/>
            <a:ext cx="37161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3.</a:t>
            </a:r>
            <a:r>
              <a:rPr lang="ru-RU" sz="2400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2400" dirty="0"/>
              <a:t>Логика расчета и безопасности: 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расчеты, добавить защиту от ошибок и временное хранилище данных</a:t>
            </a:r>
            <a:endParaRPr lang="ru-RU" sz="2400" dirty="0"/>
          </a:p>
          <a:p>
            <a:endParaRPr lang="ru-RU" sz="24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E6AFAF4-F396-428C-A34E-370BC8048B98}"/>
              </a:ext>
            </a:extLst>
          </p:cNvPr>
          <p:cNvSpPr/>
          <p:nvPr/>
        </p:nvSpPr>
        <p:spPr>
          <a:xfrm>
            <a:off x="7984988" y="3675415"/>
            <a:ext cx="3800104" cy="1591293"/>
          </a:xfrm>
          <a:prstGeom prst="roundRect">
            <a:avLst/>
          </a:prstGeom>
          <a:noFill/>
          <a:ln w="38100">
            <a:solidFill>
              <a:srgbClr val="8AE3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1D584-9380-46A4-9ACA-82F8C67B9664}"/>
              </a:ext>
            </a:extLst>
          </p:cNvPr>
          <p:cNvSpPr txBox="1"/>
          <p:nvPr/>
        </p:nvSpPr>
        <p:spPr>
          <a:xfrm>
            <a:off x="8052639" y="3722684"/>
            <a:ext cx="38001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4. Визуализация данных: Реализовать построение графиков и отправку их пользователю</a:t>
            </a:r>
          </a:p>
          <a:p>
            <a:endParaRPr lang="ru-RU" sz="240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3C4536C-C6FE-47A1-9792-10F94FC736E4}"/>
              </a:ext>
            </a:extLst>
          </p:cNvPr>
          <p:cNvSpPr/>
          <p:nvPr/>
        </p:nvSpPr>
        <p:spPr>
          <a:xfrm>
            <a:off x="4540332" y="1537855"/>
            <a:ext cx="3111335" cy="3728853"/>
          </a:xfrm>
          <a:prstGeom prst="roundRect">
            <a:avLst/>
          </a:prstGeom>
          <a:noFill/>
          <a:ln w="38100">
            <a:solidFill>
              <a:srgbClr val="8AE3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BF79E-EB15-40B1-A642-BA523C2F9FE1}"/>
              </a:ext>
            </a:extLst>
          </p:cNvPr>
          <p:cNvSpPr txBox="1"/>
          <p:nvPr/>
        </p:nvSpPr>
        <p:spPr>
          <a:xfrm>
            <a:off x="4622291" y="1654627"/>
            <a:ext cx="28710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5.Полировка, логирование и деплой: Завершить разработку, исправить баги, запустить бота в стабильную работу (хостинг)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5427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B2364-3366-447E-9AC4-F64A26A67AF6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9BB6C-B55B-4189-AD60-DCCA5DD5846A}"/>
              </a:ext>
            </a:extLst>
          </p:cNvPr>
          <p:cNvSpPr txBox="1"/>
          <p:nvPr/>
        </p:nvSpPr>
        <p:spPr>
          <a:xfrm>
            <a:off x="314695" y="838515"/>
            <a:ext cx="313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Ожидаемый результат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094741-69A6-4687-A8DC-649DB44B5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5" y="1438050"/>
            <a:ext cx="945419" cy="945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29E753-AFFD-40E5-8C9C-01C977B78AB9}"/>
              </a:ext>
            </a:extLst>
          </p:cNvPr>
          <p:cNvSpPr txBox="1"/>
          <p:nvPr/>
        </p:nvSpPr>
        <p:spPr>
          <a:xfrm>
            <a:off x="1349281" y="1310594"/>
            <a:ext cx="4197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Снижение времени работы офисного работника за подсчетом денег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0BAB31-4E4F-420C-B8A6-1E4FFF7FB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4" y="3179452"/>
            <a:ext cx="945419" cy="9454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EFE339-816F-40C9-85D5-705DBF78F990}"/>
              </a:ext>
            </a:extLst>
          </p:cNvPr>
          <p:cNvSpPr txBox="1"/>
          <p:nvPr/>
        </p:nvSpPr>
        <p:spPr>
          <a:xfrm>
            <a:off x="1349281" y="3051996"/>
            <a:ext cx="4683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Повышение точности выполнения бумажной работы (уменьшение количества ошибок)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0014737-252B-42D2-83B8-3AA6605A2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94" y="4920854"/>
            <a:ext cx="945421" cy="945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5195F5-2A9F-4E00-8BF6-574EB295C0EA}"/>
              </a:ext>
            </a:extLst>
          </p:cNvPr>
          <p:cNvSpPr txBox="1"/>
          <p:nvPr/>
        </p:nvSpPr>
        <p:spPr>
          <a:xfrm>
            <a:off x="1349281" y="4608734"/>
            <a:ext cx="52098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Осознание вещей, которые повышают доход и на что ты потратился, но оно не окупилось благодаря графикам и сравнения с планом</a:t>
            </a:r>
          </a:p>
        </p:txBody>
      </p:sp>
    </p:spTree>
    <p:extLst>
      <p:ext uri="{BB962C8B-B14F-4D97-AF65-F5344CB8AC3E}">
        <p14:creationId xmlns:p14="http://schemas.microsoft.com/office/powerpoint/2010/main" val="125478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EBEAA0-758B-4A3C-AB08-60760CE9D8A7}"/>
              </a:ext>
            </a:extLst>
          </p:cNvPr>
          <p:cNvSpPr txBox="1"/>
          <p:nvPr/>
        </p:nvSpPr>
        <p:spPr>
          <a:xfrm>
            <a:off x="2723121" y="3075057"/>
            <a:ext cx="6745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A167F9B-8444-4FF9-BD9F-B98052179194}"/>
              </a:ext>
            </a:extLst>
          </p:cNvPr>
          <p:cNvSpPr/>
          <p:nvPr/>
        </p:nvSpPr>
        <p:spPr>
          <a:xfrm>
            <a:off x="-1920834" y="-1920834"/>
            <a:ext cx="3841668" cy="3841668"/>
          </a:xfrm>
          <a:prstGeom prst="ellipse">
            <a:avLst/>
          </a:prstGeom>
          <a:solidFill>
            <a:srgbClr val="8AE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53566B4E-EC12-4A22-A49F-98172B2D995A}"/>
              </a:ext>
            </a:extLst>
          </p:cNvPr>
          <p:cNvSpPr/>
          <p:nvPr/>
        </p:nvSpPr>
        <p:spPr>
          <a:xfrm>
            <a:off x="10271166" y="4937166"/>
            <a:ext cx="3841668" cy="3841668"/>
          </a:xfrm>
          <a:prstGeom prst="ellipse">
            <a:avLst/>
          </a:prstGeom>
          <a:solidFill>
            <a:srgbClr val="8AE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8258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404</Words>
  <Application>Microsoft Office PowerPoint</Application>
  <PresentationFormat>Широкоэкранный</PresentationFormat>
  <Paragraphs>80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18</cp:revision>
  <dcterms:created xsi:type="dcterms:W3CDTF">2026-03-21T12:35:48Z</dcterms:created>
  <dcterms:modified xsi:type="dcterms:W3CDTF">2026-03-22T12:46:42Z</dcterms:modified>
</cp:coreProperties>
</file>